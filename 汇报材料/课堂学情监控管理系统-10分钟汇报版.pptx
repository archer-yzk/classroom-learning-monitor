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e745f9b3af4933" /><Relationship Type="http://schemas.openxmlformats.org/officeDocument/2006/relationships/extended-properties" Target="/docProps/app.xml" Id="R7d2d290df5a4492b" /><Relationship Type="http://schemas.openxmlformats.org/officeDocument/2006/relationships/officeDocument" Target="/ppt/presentation.xml" Id="Rab4371ac521448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fa8e009c784db2"/>
  </p:sldMasterIdLst>
  <p:notesMasterIdLst>
    <p:notesMasterId xmlns:r="http://schemas.openxmlformats.org/officeDocument/2006/relationships" r:id="R19c77d86faaa45c2"/>
  </p:notesMasterIdLst>
  <p:sldIdLst>
    <p:sldId xmlns:r="http://schemas.openxmlformats.org/officeDocument/2006/relationships" id="256" r:id="R592846460f2d4102"/>
    <p:sldId xmlns:r="http://schemas.openxmlformats.org/officeDocument/2006/relationships" id="257" r:id="R69224fa4fa494009"/>
    <p:sldId xmlns:r="http://schemas.openxmlformats.org/officeDocument/2006/relationships" id="258" r:id="Re014c9a76e45443e"/>
    <p:sldId xmlns:r="http://schemas.openxmlformats.org/officeDocument/2006/relationships" id="259" r:id="Ra31f366f13e64eb5"/>
    <p:sldId xmlns:r="http://schemas.openxmlformats.org/officeDocument/2006/relationships" id="260" r:id="Rbaefbfff83d14595"/>
    <p:sldId xmlns:r="http://schemas.openxmlformats.org/officeDocument/2006/relationships" id="261" r:id="Ra5f5308d96eb4b1e"/>
    <p:sldId xmlns:r="http://schemas.openxmlformats.org/officeDocument/2006/relationships" id="262" r:id="Rc04e997aa8744d7f"/>
    <p:sldId xmlns:r="http://schemas.openxmlformats.org/officeDocument/2006/relationships" id="263" r:id="R3e334e57f4af4cb9"/>
    <p:sldId xmlns:r="http://schemas.openxmlformats.org/officeDocument/2006/relationships" id="264" r:id="R99b61179d30f460a"/>
    <p:sldId xmlns:r="http://schemas.openxmlformats.org/officeDocument/2006/relationships" id="265" r:id="R024f4c5d55b54329"/>
    <p:sldId xmlns:r="http://schemas.openxmlformats.org/officeDocument/2006/relationships" id="266" r:id="R06be62eaafd24dc3"/>
    <p:sldId xmlns:r="http://schemas.openxmlformats.org/officeDocument/2006/relationships" id="267" r:id="R372fed43f3c544ff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ab600bf65a4fa3" /><Relationship Type="http://schemas.openxmlformats.org/officeDocument/2006/relationships/slideMaster" Target="/ppt/slideMasters/slideMaster1.xml" Id="Rd0fa8e009c784db2" /><Relationship Type="http://schemas.openxmlformats.org/officeDocument/2006/relationships/notesMaster" Target="/ppt/notesMasters/notesMaster1.xml" Id="R19c77d86faaa45c2" /><Relationship Type="http://schemas.openxmlformats.org/officeDocument/2006/relationships/presProps" Target="/ppt/presProps.xml" Id="R6257d2d411fa4f73" /><Relationship Type="http://schemas.openxmlformats.org/officeDocument/2006/relationships/tableStyles" Target="/ppt/tableStyles.xml" Id="R5c3dd98b4194413d" /><Relationship Type="http://schemas.openxmlformats.org/officeDocument/2006/relationships/slide" Target="/ppt/slides/slide1.xml" Id="R592846460f2d4102" /><Relationship Type="http://schemas.openxmlformats.org/officeDocument/2006/relationships/slide" Target="/ppt/slides/slide2.xml" Id="R69224fa4fa494009" /><Relationship Type="http://schemas.openxmlformats.org/officeDocument/2006/relationships/slide" Target="/ppt/slides/slide3.xml" Id="Re014c9a76e45443e" /><Relationship Type="http://schemas.openxmlformats.org/officeDocument/2006/relationships/slide" Target="/ppt/slides/slide4.xml" Id="Ra31f366f13e64eb5" /><Relationship Type="http://schemas.openxmlformats.org/officeDocument/2006/relationships/slide" Target="/ppt/slides/slide5.xml" Id="Rbaefbfff83d14595" /><Relationship Type="http://schemas.openxmlformats.org/officeDocument/2006/relationships/slide" Target="/ppt/slides/slide6.xml" Id="Ra5f5308d96eb4b1e" /><Relationship Type="http://schemas.openxmlformats.org/officeDocument/2006/relationships/slide" Target="/ppt/slides/slide7.xml" Id="Rc04e997aa8744d7f" /><Relationship Type="http://schemas.openxmlformats.org/officeDocument/2006/relationships/slide" Target="/ppt/slides/slide8.xml" Id="R3e334e57f4af4cb9" /><Relationship Type="http://schemas.openxmlformats.org/officeDocument/2006/relationships/slide" Target="/ppt/slides/slide9.xml" Id="R99b61179d30f460a" /><Relationship Type="http://schemas.openxmlformats.org/officeDocument/2006/relationships/slide" Target="/ppt/slides/slide10.xml" Id="R024f4c5d55b54329" /><Relationship Type="http://schemas.openxmlformats.org/officeDocument/2006/relationships/slide" Target="/ppt/slides/slide11.xml" Id="R06be62eaafd24dc3" /><Relationship Type="http://schemas.openxmlformats.org/officeDocument/2006/relationships/slide" Target="/ppt/slides/slide12.xml" Id="R372fed43f3c544f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9eb8808e9f47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140939fe0a49a4" /><Relationship Type="http://schemas.openxmlformats.org/officeDocument/2006/relationships/notesMaster" Target="/ppt/notesMasters/notesMaster1.xml" Id="Ra969996f4ff244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6c36049888f4188" /><Relationship Type="http://schemas.openxmlformats.org/officeDocument/2006/relationships/notesMaster" Target="/ppt/notesMasters/notesMaster1.xml" Id="Rbf5a8b540c54450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8ecb77979d84e95" /><Relationship Type="http://schemas.openxmlformats.org/officeDocument/2006/relationships/notesMaster" Target="/ppt/notesMasters/notesMaster1.xml" Id="Rfd7a96bf69ee496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536e640fd9d40b1" /><Relationship Type="http://schemas.openxmlformats.org/officeDocument/2006/relationships/notesMaster" Target="/ppt/notesMasters/notesMaster1.xml" Id="Rf6bbe00b02f442f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dd4decd6e634240" /><Relationship Type="http://schemas.openxmlformats.org/officeDocument/2006/relationships/notesMaster" Target="/ppt/notesMasters/notesMaster1.xml" Id="Rf155b9dbbd544e8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e7c855191134999" /><Relationship Type="http://schemas.openxmlformats.org/officeDocument/2006/relationships/notesMaster" Target="/ppt/notesMasters/notesMaster1.xml" Id="R765b80e3286242f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0ab338eaf0e4a3e" /><Relationship Type="http://schemas.openxmlformats.org/officeDocument/2006/relationships/notesMaster" Target="/ppt/notesMasters/notesMaster1.xml" Id="R6a9d3e27140c4d6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dd93edead1347dc" /><Relationship Type="http://schemas.openxmlformats.org/officeDocument/2006/relationships/notesMaster" Target="/ppt/notesMasters/notesMaster1.xml" Id="Rf1717b9bb454438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f354d6d825a47da" /><Relationship Type="http://schemas.openxmlformats.org/officeDocument/2006/relationships/notesMaster" Target="/ppt/notesMasters/notesMaster1.xml" Id="R721f6e1b41ee407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ffbfab9126743c1" /><Relationship Type="http://schemas.openxmlformats.org/officeDocument/2006/relationships/notesMaster" Target="/ppt/notesMasters/notesMaster1.xml" Id="Rc37d649331754ac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0485cc283a046c4" /><Relationship Type="http://schemas.openxmlformats.org/officeDocument/2006/relationships/notesMaster" Target="/ppt/notesMasters/notesMaster1.xml" Id="Rb6eaf3982f87499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e28295c79c94471" /><Relationship Type="http://schemas.openxmlformats.org/officeDocument/2006/relationships/notesMaster" Target="/ppt/notesMasters/notesMaster1.xml" Id="Rd266c702422a47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建议用时：20 秒。全稿合计 8 分 40 秒，预留 1 分 20 秒用于切页或停顿。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各位老师好，我汇报的项目是课堂学情监控管理系统。项目关注一个课堂中的实际问题：学生反馈之后，教师如何及时了解全班情况，并跟进有困难的学生。接下来我会结合系统页面，介绍功能、核心业务规则和验证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资料依据（项目原始材料）：</a:t>
            </a:r>
          </a:p>
          <a:p xmlns:a="http://schemas.openxmlformats.org/drawingml/2006/main">
            <a:r>
              <a:t>D:\Projects\课堂学情监控管理系统\README.md</a:t>
            </a:r>
          </a:p>
          <a:p xmlns:a="http://schemas.openxmlformats.org/drawingml/2006/main">
            <a:r>
              <a:t>界面为 2026-09-25 项目截图，显示演示数据，不代表实际教学效果。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建议用时：40 秒。全稿合计 8 分 40 秒，预留 1 分 20 秒用于切页或停顿。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传统课堂中，老师可以提问，也可以观察学生，但难以持续汇总每个人的理解状态。本项目把这个问题拆为三个部分：首先让学生低成本表达理解程度，其次让教师及时识别低分和分歧，最后把处理过程与历史统计保存下来。项目的价值是提供教学判断的依据，目前没有声称提升了多少成绩或教学效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资料依据（项目原始材料）：</a:t>
            </a:r>
          </a:p>
          <a:p xmlns:a="http://schemas.openxmlformats.org/drawingml/2006/main">
            <a:r>
              <a:t>D:\Projects\课堂学情监控管理系统\README.md</a:t>
            </a:r>
          </a:p>
          <a:p xmlns:a="http://schemas.openxmlformats.org/drawingml/2006/main">
            <a:r>
              <a:t>D:\Projects\课堂学情监控管理系统\docs\自主新增业务模块说明.md</a:t>
            </a:r>
          </a:p>
          <a:p xmlns:a="http://schemas.openxmlformats.org/drawingml/2006/main">
            <a:r>
              <a:t>界面为 2026-09-25 项目截图，显示演示数据，不代表实际教学效果。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建议用时：35 秒。全稿合计 8 分 40 秒，预留 1 分 20 秒用于切页或停顿。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系统有学生、教师和管理员三类角色。学生负责反馈、讨论和查看本人提醒；教师负责查看实时统计、处理预警和查询历史；管理员维护账号、课程、课堂以及统计周期。角色区分同时落实到页面和接口，学生只能访问所在班级，教师只能访问自己授课的课程。管理员不直接代替教师处理学情预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资料依据（项目原始材料）：</a:t>
            </a:r>
          </a:p>
          <a:p xmlns:a="http://schemas.openxmlformats.org/drawingml/2006/main">
            <a:r>
              <a:t>D:\Projects\课堂学情监控管理系统\README.md</a:t>
            </a:r>
          </a:p>
          <a:p xmlns:a="http://schemas.openxmlformats.org/drawingml/2006/main">
            <a:r>
              <a:t>D:\Projects\课堂学情监控管理系统\docs\三角色权限验收记录.md</a:t>
            </a:r>
          </a:p>
          <a:p xmlns:a="http://schemas.openxmlformats.org/drawingml/2006/main">
            <a:r>
              <a:t>界面为 2026-09-25 项目截图，显示演示数据，不代表实际教学效果。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建议用时：45 秒。全稿合计 8 分 40 秒，预留 1 分 20 秒用于切页或停顿。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进入课堂后，能看到课程、班级、主题和教师，再选择一到六分的理解程度。六分代表完全理解，一分代表完全没有理解。理解发生变化时可以重新提交，历史记录会保留，但当前统计只计算这名学生最新的反馈，因此不会把多次提交重复计算为多人。右侧是手机界面，项目已检查390乘844的视口，底部导航和正文没有横向溢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资料依据（项目原始材料）：</a:t>
            </a:r>
          </a:p>
          <a:p xmlns:a="http://schemas.openxmlformats.org/drawingml/2006/main">
            <a:r>
              <a:t>D:\Projects\课堂学情监控管理系统\README.md</a:t>
            </a:r>
          </a:p>
          <a:p xmlns:a="http://schemas.openxmlformats.org/drawingml/2006/main">
            <a:r>
              <a:t>D:\Projects\课堂学情监控管理系统\docs\学情反馈与实时统计验收记录.md</a:t>
            </a:r>
          </a:p>
          <a:p xmlns:a="http://schemas.openxmlformats.org/drawingml/2006/main">
            <a:r>
              <a:t>D:\Projects\课堂学情监控管理系统\截图与视频\02_学生学情反馈.jpg</a:t>
            </a:r>
          </a:p>
          <a:p xmlns:a="http://schemas.openxmlformats.org/drawingml/2006/main">
            <a:r>
              <a:t>D:\Projects\课堂学情监控管理系统\截图与视频\11_学生移动端适配.jpg</a:t>
            </a:r>
          </a:p>
          <a:p xmlns:a="http://schemas.openxmlformats.org/drawingml/2006/main">
            <a:r>
              <a:t>界面为 2026-09-25 项目截图，显示演示数据，不代表实际教学效果。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建议用时：50 秒。全稿合计 8 分 40 秒，预留 1 分 20 秒用于切页或停顿。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看板首先回答三个问题：有多少人提交了反馈，全班大致理解到什么程度，谁还需要帮助。截图中可以看到提交率、平均理解度和待处理预警。平均分不能说明全部问题，所以系统还展示六档分布和方差，帮助识别两极分化。下方柱状图呈现当前分布，趋势图呈现最近五个完整周期。这里的数值来自演示数据，重点是展示指标如何共同支持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资料依据（项目原始材料）：</a:t>
            </a:r>
          </a:p>
          <a:p xmlns:a="http://schemas.openxmlformats.org/drawingml/2006/main">
            <a:r>
              <a:t>D:\Projects\课堂学情监控管理系统\README.md</a:t>
            </a:r>
          </a:p>
          <a:p xmlns:a="http://schemas.openxmlformats.org/drawingml/2006/main">
            <a:r>
              <a:t>D:\Projects\课堂学情监控管理系统\截图与视频\05_教师实时统计与图表.jpg</a:t>
            </a:r>
          </a:p>
          <a:p xmlns:a="http://schemas.openxmlformats.org/drawingml/2006/main">
            <a:r>
              <a:t>界面为 2026-09-25 项目截图，显示演示数据，不代表实际教学效果。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建议用时：65 秒。全稿合计 8 分 40 秒，预留 1 分 20 秒用于切页或停顿。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是项目自主新增的模块。学生提交一分或两分时，系统自动创建预警。如果同一学生在同一课堂还有待处理记录，再次低分只更新原记录，避免重复待办。教师点击查看并跟进，在右侧抽屉填写意见后完成处理，学生可以查看结果。这里有两个关键规则：高分不会自动关闭尚未处理的困难，已处理记录也不能被重复覆盖。后续再次低分可以产生新一轮预警。这样保留的是教学行动过程，反馈与预警还放在同一个数据库事务中，避免只保存了一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资料依据（项目原始材料）：</a:t>
            </a:r>
          </a:p>
          <a:p xmlns:a="http://schemas.openxmlformats.org/drawingml/2006/main">
            <a:r>
              <a:t>D:\Projects\课堂学情监控管理系统\docs\自主新增业务模块说明.md</a:t>
            </a:r>
          </a:p>
          <a:p xmlns:a="http://schemas.openxmlformats.org/drawingml/2006/main">
            <a:r>
              <a:t>D:\Projects\课堂学情监控管理系统\截图与视频\06_教师学情预警跟进.jpg</a:t>
            </a:r>
          </a:p>
          <a:p xmlns:a="http://schemas.openxmlformats.org/drawingml/2006/main">
            <a:r>
              <a:t>界面为 2026-09-25 项目截图，显示演示数据，不代表实际教学效果。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建议用时：35 秒。全稿合计 8 分 40 秒，预留 1 分 20 秒用于切页或停顿。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表情分数适合表达状态，讨论区用于说明具体困难。学生和教师可以发送文字或图片，页面按消息编号每三秒读取新消息。输入区会拦截空消息，图片校验格式和大小。课堂讨论同样遵循权限范围，其他班级的学生、其他课程的教师和管理员不能读取或发送当前课堂消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资料依据（项目原始材料）：</a:t>
            </a:r>
          </a:p>
          <a:p xmlns:a="http://schemas.openxmlformats.org/drawingml/2006/main">
            <a:r>
              <a:t>D:\Projects\课堂学情监控管理系统\docs\在线讨论验收记录.md</a:t>
            </a:r>
          </a:p>
          <a:p xmlns:a="http://schemas.openxmlformats.org/drawingml/2006/main">
            <a:r>
              <a:t>D:\Projects\课堂学情监控管理系统\截图与视频\07_教师在线讨论.jpg</a:t>
            </a:r>
          </a:p>
          <a:p xmlns:a="http://schemas.openxmlformats.org/drawingml/2006/main">
            <a:r>
              <a:t>界面为 2026-09-25 项目截图，显示演示数据，不代表实际教学效果。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建议用时：45 秒。全稿合计 8 分 40 秒，预留 1 分 20 秒用于切页或停顿。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历史模块按管理员设置的周期保存快照，教师可以按课程名称与上课时间组合查询，再导出相同条件下的Excel。实现时重点处理了时间边界。例如五分钟周期在10点12分运行时，只生成10点05到10点10的完整周期，不提前固定尚未结束的周期。计算只使用截止时间之前每名学生的最新反馈，同一课堂同一周期不会重复保存。这些规则保证历史数据可以用于回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资料依据（项目原始材料）：</a:t>
            </a:r>
          </a:p>
          <a:p xmlns:a="http://schemas.openxmlformats.org/drawingml/2006/main">
            <a:r>
              <a:t>D:\Projects\课堂学情监控管理系统\docs\定时统计历史查询与Excel验收记录.md</a:t>
            </a:r>
          </a:p>
          <a:p xmlns:a="http://schemas.openxmlformats.org/drawingml/2006/main">
            <a:r>
              <a:t>D:\Projects\课堂学情监控管理系统\截图与视频\08_历史学情查询.jpg</a:t>
            </a:r>
          </a:p>
          <a:p xmlns:a="http://schemas.openxmlformats.org/drawingml/2006/main">
            <a:r>
              <a:t>界面为 2026-09-25 项目截图，显示演示数据，不代表实际教学效果。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建议用时：40 秒。全稿合计 8 分 40 秒，预留 1 分 20 秒用于切页或停顿。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管理员端负责让系统持续可用。账号支持按角色或关键词查询，以及修改、启用和停用；有业务数据关联的账号不能随意删除。课程和课堂支持创建、开始、结束，同一位教师或同一个班级不能同时进入两个活动课堂。统计周期限制在五到十分钟，前后端和数据库共同约束输入。这样课堂数据的入口和运行状态都有明确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资料依据（项目原始材料）：</a:t>
            </a:r>
          </a:p>
          <a:p xmlns:a="http://schemas.openxmlformats.org/drawingml/2006/main">
            <a:r>
              <a:t>D:\Projects\课堂学情监控管理系统\docs\管理员功能验收记录.md</a:t>
            </a:r>
          </a:p>
          <a:p xmlns:a="http://schemas.openxmlformats.org/drawingml/2006/main">
            <a:r>
              <a:t>D:\Projects\课堂学情监控管理系统\截图与视频\09_管理员用户管理.jpg</a:t>
            </a:r>
          </a:p>
          <a:p xmlns:a="http://schemas.openxmlformats.org/drawingml/2006/main">
            <a:r>
              <a:t>界面为 2026-09-25 项目截图，显示演示数据，不代表实际教学效果。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建议用时：45 秒。全稿合计 8 分 40 秒，预留 1 分 20 秒用于切页或停顿。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技术实现分为界面、服务、业务和存储几个部分。前端采用原生技术和ECharts，后端用FastAPI处理接口，Pydantic校验输入，SQLAlchemy访问SQLite。设计重点是正确性：角色权限在后端检查，反馈与预警一起提交，统计按时间选择最新记录，周期任务重复运行也不会重复写入。系统还提供数据库初始化、独立回归测试和临时数据库冒烟脚本，方便交付后复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资料依据（项目原始材料）：</a:t>
            </a:r>
          </a:p>
          <a:p xmlns:a="http://schemas.openxmlformats.org/drawingml/2006/main">
            <a:r>
              <a:t>D:\Projects\课堂学情监控管理系统\README.md</a:t>
            </a:r>
          </a:p>
          <a:p xmlns:a="http://schemas.openxmlformats.org/drawingml/2006/main">
            <a:r>
              <a:t>D:\Projects\课堂学情监控管理系统\docs\自主新增业务模块说明.md</a:t>
            </a:r>
          </a:p>
          <a:p xmlns:a="http://schemas.openxmlformats.org/drawingml/2006/main">
            <a:r>
              <a:t>D:\Projects\课堂学情监控管理系统\docs\定时统计历史查询与Excel验收记录.md</a:t>
            </a:r>
          </a:p>
          <a:p xmlns:a="http://schemas.openxmlformats.org/drawingml/2006/main">
            <a:r>
              <a:t>界面为 2026-09-25 项目截图，显示演示数据，不代表实际教学效果。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建议用时：50 秒。全稿合计 8 分 40 秒，预留 1 分 20 秒用于切页或停顿。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验证结果分两部分。功能方面，已有记录包含88项权限检查、19项预警流程检查以及42项真实HTTP冒烟检查，分别验证数据范围、核心业务和服务连通性。统计还有专门回归，覆盖乱序反馈和周期截止边界。性能方面，2026年9月12日使用200个独立会话并发读取讨论接口，全部成功，单次最大响应约0.684秒。这里需要限定结论：它是同一台电脑上的短时课程验收，并不等于公网长期容量，也不是200人同时写入测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资料依据（项目原始材料）：</a:t>
            </a:r>
          </a:p>
          <a:p xmlns:a="http://schemas.openxmlformats.org/drawingml/2006/main">
            <a:r>
              <a:t>D:\Projects\课堂学情监控管理系统\docs\三角色权限验收记录.md</a:t>
            </a:r>
          </a:p>
          <a:p xmlns:a="http://schemas.openxmlformats.org/drawingml/2006/main">
            <a:r>
              <a:t>D:\Projects\课堂学情监控管理系统\docs\自主新增业务模块验收记录.md</a:t>
            </a:r>
          </a:p>
          <a:p xmlns:a="http://schemas.openxmlformats.org/drawingml/2006/main">
            <a:r>
              <a:t>D:\Projects\课堂学情监控管理系统\docs\全系统验收基线.md</a:t>
            </a:r>
          </a:p>
          <a:p xmlns:a="http://schemas.openxmlformats.org/drawingml/2006/main">
            <a:r>
              <a:t>D:\Projects\课堂学情监控管理系统\docs\性能与移动端验收记录.md</a:t>
            </a:r>
          </a:p>
          <a:p xmlns:a="http://schemas.openxmlformats.org/drawingml/2006/main">
            <a:r>
              <a:t>界面为 2026-09-25 项目截图，显示演示数据，不代表实际教学效果。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建议用时：50 秒。全稿合计 8 分 40 秒，预留 1 分 20 秒用于切页或停顿。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后用一个场景总结项目：学生提交两分，教师在看板发现预警，进入抽屉填写辅导意见，学生回到提醒页查看回复。这个过程连接了数据采集和教学处理，也是本项目的主要特色。汇报可以沿着这一顺序指示截图，无需等待真实统计周期完成。当前版本适用于课程演示，短信以及微信、QQ采用本地模拟认证；真实第三方接入、HTTPS和云部署属于后续建设。以上是本次汇报，谢谢各位老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资料依据（项目原始材料）：</a:t>
            </a:r>
          </a:p>
          <a:p xmlns:a="http://schemas.openxmlformats.org/drawingml/2006/main">
            <a:r>
              <a:t>D:\Projects\课堂学情监控管理系统\README.md</a:t>
            </a:r>
          </a:p>
          <a:p xmlns:a="http://schemas.openxmlformats.org/drawingml/2006/main">
            <a:r>
              <a:t>D:\Projects\课堂学情监控管理系统\docs\自主新增业务模块说明.md</a:t>
            </a:r>
          </a:p>
          <a:p xmlns:a="http://schemas.openxmlformats.org/drawingml/2006/main">
            <a:r>
              <a:t>界面为 2026-09-25 项目截图，显示演示数据，不代表实际教学效果。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d3ebe87eed487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d4291a0fef45f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d7c48dd9e4494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7d3ca36479461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76879a4b084e1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2a8c917b1f42c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C83F6E1-078A-49A7-9DEF-D15849DA30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5AE752B-CF91-4180-A5B1-0A57D2F6993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F8A19C0-E629-4BB0-BC87-DFABD2CD44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B84E7B4-E0A1-43C7-8128-D94642EBEC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9FD2DF2-6BF3-4FA7-B1FB-BEA54C4683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E8A98B-9808-4D2A-BDE7-76210FADE7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DD05C8A-D173-4F34-9B80-4DB2BEC2BE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963B450-F2E9-47EE-84D4-82864AC9F31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3F1E78B-1623-4C1B-8080-55FA2B51B8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55CAF36-DFFE-495C-86C5-2318C83E5E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e96674225cb4222" /><Relationship Type="http://schemas.openxmlformats.org/officeDocument/2006/relationships/slideLayout" Target="/ppt/slideLayouts/slideLayout1.xml" Id="Rd000549652a64c90" /><Relationship Type="http://schemas.openxmlformats.org/officeDocument/2006/relationships/slideLayout" Target="/ppt/slideLayouts/slideLayout2.xml" Id="R8be91cbcf99d449d" /><Relationship Type="http://schemas.openxmlformats.org/officeDocument/2006/relationships/slideLayout" Target="/ppt/slideLayouts/slideLayout3.xml" Id="R6692195a4a9d4c6d" /><Relationship Type="http://schemas.openxmlformats.org/officeDocument/2006/relationships/slideLayout" Target="/ppt/slideLayouts/slideLayout4.xml" Id="R530003df7c91471c" /><Relationship Type="http://schemas.openxmlformats.org/officeDocument/2006/relationships/slideLayout" Target="/ppt/slideLayouts/slideLayout5.xml" Id="R49ed1a0950be42d9" /><Relationship Type="http://schemas.openxmlformats.org/officeDocument/2006/relationships/slideLayout" Target="/ppt/slideLayouts/slideLayout6.xml" Id="R167345ea677940e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00549652a64c90"/>
    <p:sldLayoutId xmlns:r="http://schemas.openxmlformats.org/officeDocument/2006/relationships" id="2147483650" r:id="R8be91cbcf99d449d"/>
    <p:sldLayoutId xmlns:r="http://schemas.openxmlformats.org/officeDocument/2006/relationships" id="2147483651" r:id="R6692195a4a9d4c6d"/>
    <p:sldLayoutId xmlns:r="http://schemas.openxmlformats.org/officeDocument/2006/relationships" id="2147483652" r:id="R530003df7c91471c"/>
    <p:sldLayoutId xmlns:r="http://schemas.openxmlformats.org/officeDocument/2006/relationships" id="2147483653" r:id="R49ed1a0950be42d9"/>
    <p:sldLayoutId xmlns:r="http://schemas.openxmlformats.org/officeDocument/2006/relationships" id="2147483654" r:id="R167345ea677940e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6310341edd4923" /><Relationship Type="http://schemas.openxmlformats.org/officeDocument/2006/relationships/notesSlide" Target="/ppt/notesSlides/notesSlide1.xml" Id="R0d5ad251b8ed41b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85d81ce5f147b3" /><Relationship Type="http://schemas.openxmlformats.org/officeDocument/2006/relationships/notesSlide" Target="/ppt/notesSlides/notesSlide2.xml" Id="R31525308ec824b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b835a025b14ae8" /><Relationship Type="http://schemas.openxmlformats.org/officeDocument/2006/relationships/notesSlide" Target="/ppt/notesSlides/notesSlide3.xml" Id="R596aa29c1388412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624c6d58d24350" /><Relationship Type="http://schemas.openxmlformats.org/officeDocument/2006/relationships/image" Target="/ppt/media/image.jpeg" Id="R6e2323c654e44ce5" /><Relationship Type="http://schemas.openxmlformats.org/officeDocument/2006/relationships/image" Target="/ppt/media/image2.jpeg" Id="R1da9e48532b7459f" /><Relationship Type="http://schemas.openxmlformats.org/officeDocument/2006/relationships/notesSlide" Target="/ppt/notesSlides/notesSlide4.xml" Id="Ra3f5695cf472409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9658fb52904af6" /><Relationship Type="http://schemas.openxmlformats.org/officeDocument/2006/relationships/image" Target="/ppt/media/image3.jpeg" Id="R2346c7df1a6a4a01" /><Relationship Type="http://schemas.openxmlformats.org/officeDocument/2006/relationships/notesSlide" Target="/ppt/notesSlides/notesSlide5.xml" Id="Re3e0a4685a0a43d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7b4d5744a84e49" /><Relationship Type="http://schemas.openxmlformats.org/officeDocument/2006/relationships/image" Target="/ppt/media/image4.jpeg" Id="R160727ee63f94cac" /><Relationship Type="http://schemas.openxmlformats.org/officeDocument/2006/relationships/notesSlide" Target="/ppt/notesSlides/notesSlide6.xml" Id="Rd2e9d4f68b9246a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8ec0fe73ba48f9" /><Relationship Type="http://schemas.openxmlformats.org/officeDocument/2006/relationships/image" Target="/ppt/media/image5.jpeg" Id="R2360daeff9c24d67" /><Relationship Type="http://schemas.openxmlformats.org/officeDocument/2006/relationships/notesSlide" Target="/ppt/notesSlides/notesSlide7.xml" Id="Rd4801c3bfb814fc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732823bec240d7" /><Relationship Type="http://schemas.openxmlformats.org/officeDocument/2006/relationships/image" Target="/ppt/media/image6.jpeg" Id="R9ee56c6ca3c74511" /><Relationship Type="http://schemas.openxmlformats.org/officeDocument/2006/relationships/notesSlide" Target="/ppt/notesSlides/notesSlide8.xml" Id="Ref6b506422f1412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315e19c70f4e8f" /><Relationship Type="http://schemas.openxmlformats.org/officeDocument/2006/relationships/image" Target="/ppt/media/image7.jpeg" Id="R269b81da4b8c4d69" /><Relationship Type="http://schemas.openxmlformats.org/officeDocument/2006/relationships/notesSlide" Target="/ppt/notesSlides/notesSlide9.xml" Id="R487c93133c0d444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a0fa49673242ff" /><Relationship Type="http://schemas.openxmlformats.org/officeDocument/2006/relationships/notesSlide" Target="/ppt/notesSlides/notesSlide10.xml" Id="Rf07151cccb93494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188788e3f24b17" /><Relationship Type="http://schemas.openxmlformats.org/officeDocument/2006/relationships/notesSlide" Target="/ppt/notesSlides/notesSlide11.xml" Id="Rbf1bed5d76fb469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028b34196a4356" /><Relationship Type="http://schemas.openxmlformats.org/officeDocument/2006/relationships/notesSlide" Target="/ppt/notesSlides/notesSlide12.xml" Id="R1d5bfc9764694eb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F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A0751B-174F-4D99-9C30-4594913A1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143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74E3C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74E3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4E3CC"/>
                </a:solidFill>
                <a:latin typeface="Microsoft YaHei"/>
                <a:ea typeface="Microsoft YaHei"/>
                <a:cs typeface="Microsoft YaHei"/>
              </a:rPr>
              <a:t>CLASSINSIGHT     课程项目汇报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8DE3DB-2627-4A13-83BB-3F3309093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05050"/>
            <a:ext cx="13335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5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5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课堂学情</a:t>
            </a:r>
          </a:p>
          <a:p xmlns:a="http://schemas.openxmlformats.org/drawingml/2006/main">
            <a:pPr>
              <a:defRPr sz="5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监控管理系统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57C118-9C2D-4C41-A847-87858760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95850"/>
            <a:ext cx="1333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74E3C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74E3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74E3CC"/>
                </a:solidFill>
                <a:latin typeface="Microsoft YaHei"/>
                <a:ea typeface="Microsoft YaHei"/>
                <a:cs typeface="Microsoft YaHei"/>
              </a:rPr>
              <a:t>让学生反馈进入教师的教学决策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ACE7AB-6FD1-499E-8200-00D7D0E40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72250"/>
            <a:ext cx="1333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B6D0D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B6D0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B6D0D6"/>
                </a:solidFill>
                <a:latin typeface="Microsoft YaHei"/>
                <a:ea typeface="Microsoft YaHei"/>
                <a:cs typeface="Microsoft YaHei"/>
              </a:rPr>
              <a:t>课堂反馈    实时统计    教师跟进    历史复盘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787AC9-249B-4D9B-A848-BB2014D4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096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B6D0D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6D0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6D0D6"/>
                </a:solidFill>
                <a:latin typeface="Microsoft YaHei"/>
                <a:ea typeface="Microsoft YaHei"/>
                <a:cs typeface="Microsoft YaHei"/>
              </a:rPr>
              <a:t>2026.10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B3614F-95BA-4A9F-A878-778556B0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80962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B6D0D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B6D0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6D0D6"/>
                </a:solidFill>
                <a:latin typeface="Microsoft YaHei"/>
                <a:ea typeface="Microsoft YaHei"/>
                <a:cs typeface="Microsoft YaHei"/>
              </a:rPr>
              <a:t>01 / 12</a:t>
            </a:r>
          </a:p>
        </p:txBody>
      </p:sp>
    </p:spTree>
    <p:extLst>
      <p:ext uri="{BB962C8B-B14F-4D97-AF65-F5344CB8AC3E}">
        <p14:creationId xmlns:p14="http://schemas.microsoft.com/office/powerpoint/2010/main" val="16404020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28F6D9-818D-4107-86DC-4E092A163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238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3C5548-C892-4BE0-A0E7-C994D8234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04875"/>
            <a:ext cx="1362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02F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02F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F3D"/>
                </a:solidFill>
                <a:latin typeface="Microsoft YaHei"/>
                <a:ea typeface="Microsoft YaHei"/>
                <a:cs typeface="Microsoft YaHei"/>
              </a:rPr>
              <a:t>课堂反馈需要连接到后续教学行动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5308E8-253D-4CED-A800-93EE27C6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362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rPr>
              <a:t>项目围绕“看见状态、找到困难、留下记录”组织功能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FC2C72-4B68-4198-9A28-CEB8B358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343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rPr>
              <a:t>CLASSINSIGHT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60B79F-4336-420D-AE96-5654AFD67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81343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rPr>
              <a:t>02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0B6F2A-CF99-439F-989E-F9681FDF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904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AAA446-1743-4106-8CE7-99E9CE88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09875"/>
            <a:ext cx="1228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75" b="1">
                <a:solidFill>
                  <a:srgbClr val="102F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102F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02F3D"/>
                </a:solidFill>
                <a:latin typeface="Microsoft YaHei"/>
                <a:ea typeface="Microsoft YaHei"/>
                <a:cs typeface="Microsoft YaHei"/>
              </a:rPr>
              <a:t>学生理解程度不易汇总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47FC80-880D-490A-A03A-507ED044C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371850"/>
            <a:ext cx="1228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rPr>
              <a:t>六档表情反馈，保留每次提交记录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BDE392-CB0D-45B8-8B5C-78F449273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904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51FBDB-A27B-43BF-8C64-8719993FE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238625"/>
            <a:ext cx="1228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75" b="1">
                <a:solidFill>
                  <a:srgbClr val="102F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102F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02F3D"/>
                </a:solidFill>
                <a:latin typeface="Microsoft YaHei"/>
                <a:ea typeface="Microsoft YaHei"/>
                <a:cs typeface="Microsoft YaHei"/>
              </a:rPr>
              <a:t>全班平均分难以定位个人困难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EED075-D24A-433D-8516-3F83743FA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00600"/>
            <a:ext cx="1228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rPr>
              <a:t>低分触发预警，教师填写跟进意见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1370B7-4A81-4836-8E08-8AAAD243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67375"/>
            <a:ext cx="904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17C8AD-6F11-4EEF-BEED-EA5952276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667375"/>
            <a:ext cx="1228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75" b="1">
                <a:solidFill>
                  <a:srgbClr val="102F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102F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02F3D"/>
                </a:solidFill>
                <a:latin typeface="Microsoft YaHei"/>
                <a:ea typeface="Microsoft YaHei"/>
                <a:cs typeface="Microsoft YaHei"/>
              </a:rPr>
              <a:t>一次课堂结束后缺少过程依据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E3CE1F-0532-42E6-8B50-3DBB2235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229350"/>
            <a:ext cx="1228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rPr>
              <a:t>周期快照、历史筛选与 Excel 导出</a:t>
            </a:r>
          </a:p>
        </p:txBody>
      </p:sp>
    </p:spTree>
    <p:extLst>
      <p:ext uri="{BB962C8B-B14F-4D97-AF65-F5344CB8AC3E}">
        <p14:creationId xmlns:p14="http://schemas.microsoft.com/office/powerpoint/2010/main" val="21129771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86F577-AF9D-4C5E-954A-C58066BD4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238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rPr>
              <a:t>系统总览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EDEEB0-A943-42F4-8CD4-12B21451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04875"/>
            <a:ext cx="1362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02F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02F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F3D"/>
                </a:solidFill>
                <a:latin typeface="Microsoft YaHei"/>
                <a:ea typeface="Microsoft YaHei"/>
                <a:cs typeface="Microsoft YaHei"/>
              </a:rPr>
              <a:t>三类角色围绕同一课堂协作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4DF737-84C8-46C8-AD97-CC32B620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362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rPr>
              <a:t>业务页面与接口同时检查角色和数据范围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110768-2A4E-4362-8685-F096020D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343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rPr>
              <a:t>CLASSINSIGHT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17EEE8-BA28-4475-864A-62F0C4CB3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81343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rPr>
              <a:t>03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BDC549-0EDB-486A-9CB5-FF816405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4000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500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4500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rPr>
              <a:t>学生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2B085A-5455-4903-90A0-7FE76DAB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02F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02F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2F3D"/>
                </a:solidFill>
                <a:latin typeface="Microsoft YaHei"/>
                <a:ea typeface="Microsoft YaHei"/>
                <a:cs typeface="Microsoft YaHei"/>
              </a:rPr>
              <a:t>反馈自己的学习状态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C1D972-C44B-45A4-A128-D6D99FAAE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4000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rPr>
              <a:t>提交 1～6 分反馈</a:t>
            </a:r>
          </a:p>
          <a:p xmlns:a="http://schemas.openxmlformats.org/drawingml/2006/main">
            <a:pPr>
              <a:defRPr sz="2100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rPr>
              <a:t>发送文字与图片</a:t>
            </a:r>
          </a:p>
          <a:p xmlns:a="http://schemas.openxmlformats.org/drawingml/2006/main">
            <a:pPr>
              <a:defRPr sz="2100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rPr>
              <a:t>查看本人跟进结果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18453D-CB30-496E-840F-297600AC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10375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rPr>
              <a:t>本人数据与所在班级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E70F7A-3C87-458E-9901-2DB0AD947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667000"/>
            <a:ext cx="4000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500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4500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rPr>
              <a:t>教师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A1B2CC-2987-4DF4-BAB9-3115A4A25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7147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02F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02F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2F3D"/>
                </a:solidFill>
                <a:latin typeface="Microsoft YaHei"/>
                <a:ea typeface="Microsoft YaHei"/>
                <a:cs typeface="Microsoft YaHei"/>
              </a:rPr>
              <a:t>根据学情调整教学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A1B973-9DB1-4692-8748-E4871AE0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495800"/>
            <a:ext cx="4000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rPr>
              <a:t>查看实时统计</a:t>
            </a:r>
          </a:p>
          <a:p xmlns:a="http://schemas.openxmlformats.org/drawingml/2006/main">
            <a:pPr>
              <a:defRPr sz="2100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rPr>
              <a:t>处理低分预警</a:t>
            </a:r>
          </a:p>
          <a:p xmlns:a="http://schemas.openxmlformats.org/drawingml/2006/main">
            <a:pPr>
              <a:defRPr sz="2100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rPr>
              <a:t>查询历史并导出报表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26D267-41FE-4442-AD12-A15563928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6810375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rPr>
              <a:t>本人所授课程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876530-1E3E-410A-8A02-65B1A68FC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4000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500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4500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rPr>
              <a:t>管理员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F41E71-D580-4831-B43B-CE8366996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7147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02F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02F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2F3D"/>
                </a:solidFill>
                <a:latin typeface="Microsoft YaHei"/>
                <a:ea typeface="Microsoft YaHei"/>
                <a:cs typeface="Microsoft YaHei"/>
              </a:rPr>
              <a:t>维护课堂运行条件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6C7633-FFDE-43F6-861C-277D8A417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495800"/>
            <a:ext cx="4000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rPr>
              <a:t>管理账号与启停</a:t>
            </a:r>
          </a:p>
          <a:p xmlns:a="http://schemas.openxmlformats.org/drawingml/2006/main">
            <a:pPr>
              <a:defRPr sz="2100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rPr>
              <a:t>创建、开始和结束课堂</a:t>
            </a:r>
          </a:p>
          <a:p xmlns:a="http://schemas.openxmlformats.org/drawingml/2006/main">
            <a:pPr>
              <a:defRPr sz="2100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rPr>
              <a:t>配置统计周期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694F0F-0609-4A10-91A0-DC7E504C5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810375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rPr>
              <a:t>账号、课程与系统配置</a:t>
            </a:r>
          </a:p>
        </p:txBody>
      </p:sp>
    </p:spTree>
    <p:extLst>
      <p:ext uri="{BB962C8B-B14F-4D97-AF65-F5344CB8AC3E}">
        <p14:creationId xmlns:p14="http://schemas.microsoft.com/office/powerpoint/2010/main" val="20542875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55ECA8-7B96-4FED-82ED-02A5D9A4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238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rPr>
              <a:t>学生体验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D1AE87-35A2-4A45-A200-BEC217295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04875"/>
            <a:ext cx="1362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02F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02F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F3D"/>
                </a:solidFill>
                <a:latin typeface="Microsoft YaHei"/>
                <a:ea typeface="Microsoft YaHei"/>
                <a:cs typeface="Microsoft YaHei"/>
              </a:rPr>
              <a:t>一次选择，表达当前理解程度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E53E22-E551-4E43-93E3-1B950B5E5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362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rPr>
              <a:t>六档反馈支持重复提交，当前统计采用每名学生的最新一次反馈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0C8059-1A2F-4780-BEA7-E7AAFEC9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343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rPr>
              <a:t>CLASSINSIGHT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6CCAF8-70F7-4396-A514-2DC14613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81343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rPr>
              <a:t>04 / 12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ED7237-42D8-44B4-A288-1DF0FEA0BE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2323c654e44ce5"/>
          <a:stretch xmlns:a="http://schemas.openxmlformats.org/drawingml/2006/main"/>
        </p:blipFill>
        <p:spPr>
          <a:xfrm xmlns:a="http://schemas.openxmlformats.org/drawingml/2006/main">
            <a:off x="1485900" y="2381250"/>
            <a:ext cx="8686800" cy="5429250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4716ED-6D94-4906-A297-099F1E97EC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a9e48532b7459f"/>
          <a:stretch xmlns:a="http://schemas.openxmlformats.org/drawingml/2006/main"/>
        </p:blipFill>
        <p:spPr>
          <a:xfrm xmlns:a="http://schemas.openxmlformats.org/drawingml/2006/main">
            <a:off x="11668125" y="2385255"/>
            <a:ext cx="2505075" cy="542123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7529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0B403F-CDB8-4B14-8709-9A60D0332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238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rPr>
              <a:t>教师体验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68D3C3-0588-4B76-9D29-78AFF7770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04875"/>
            <a:ext cx="1362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02F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02F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F3D"/>
                </a:solidFill>
                <a:latin typeface="Microsoft YaHei"/>
                <a:ea typeface="Microsoft YaHei"/>
                <a:cs typeface="Microsoft YaHei"/>
              </a:rPr>
              <a:t>实时看板帮助教师判断课堂状态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81301F-76C8-4B36-BAD2-50F8316D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362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rPr>
              <a:t>统计每 5 秒刷新，结合分布与趋势观察全班理解情况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6D1489-1C08-4F1C-9FD2-11040D0E3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343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rPr>
              <a:t>CLASSINSIGHT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F2F918-2733-49A7-A5D9-EF7BE333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81343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rPr>
              <a:t>05 / 12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84E09C-2F87-4E3F-B73E-8320CFF66E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46c7df1a6a4a01"/>
          <a:stretch xmlns:a="http://schemas.openxmlformats.org/drawingml/2006/main"/>
        </p:blipFill>
        <p:spPr>
          <a:xfrm xmlns:a="http://schemas.openxmlformats.org/drawingml/2006/main">
            <a:off x="1028700" y="2333625"/>
            <a:ext cx="8991600" cy="5619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C63F90-8CB8-4D8C-BE1B-32B24216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571750"/>
            <a:ext cx="361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rPr>
              <a:t>参与情况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2E047E-2A61-492E-947A-E29357D14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143250"/>
            <a:ext cx="361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rPr>
              <a:t>提交人数与提交率</a:t>
            </a:r>
          </a:p>
          <a:p xmlns:a="http://schemas.openxmlformats.org/drawingml/2006/main">
            <a:pPr>
              <a:defRPr sz="187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rPr>
              <a:t>确认反馈覆盖范围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733CEF-6468-4697-A686-02E654B04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429125"/>
            <a:ext cx="361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rPr>
              <a:t>理解差异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1626A7-6A56-4EC9-A39C-F7A5E6A38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000625"/>
            <a:ext cx="361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rPr>
              <a:t>平均分与六档分布</a:t>
            </a:r>
          </a:p>
          <a:p xmlns:a="http://schemas.openxmlformats.org/drawingml/2006/main">
            <a:pPr>
              <a:defRPr sz="187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rPr>
              <a:t>方差提示班级分歧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814721-115E-4A85-A3CD-734A9614B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86500"/>
            <a:ext cx="361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rPr>
              <a:t>需要跟进的人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701A03-162F-4C86-8C54-30017C7B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858000"/>
            <a:ext cx="361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rPr>
              <a:t>待处理预警数量</a:t>
            </a:r>
          </a:p>
          <a:p xmlns:a="http://schemas.openxmlformats.org/drawingml/2006/main">
            <a:pPr>
              <a:defRPr sz="187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rPr>
              <a:t>进入详情处理困难</a:t>
            </a:r>
          </a:p>
        </p:txBody>
      </p:sp>
    </p:spTree>
    <p:extLst>
      <p:ext uri="{BB962C8B-B14F-4D97-AF65-F5344CB8AC3E}">
        <p14:creationId xmlns:p14="http://schemas.microsoft.com/office/powerpoint/2010/main" val="3426059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3DD2D1-37C6-4624-A008-65705203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238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rPr>
              <a:t>项目特色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38A4B1-42C8-4875-9634-5E7796EE4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04875"/>
            <a:ext cx="1362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02F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02F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F3D"/>
                </a:solidFill>
                <a:latin typeface="Microsoft YaHei"/>
                <a:ea typeface="Microsoft YaHei"/>
                <a:cs typeface="Microsoft YaHei"/>
              </a:rPr>
              <a:t>学情预警与教师跟进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91F390-8A32-4AA3-AD9D-FA6D2C9B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362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rPr>
              <a:t>新增独立业务实体 learning_alerts，记录完整处理过程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5F914F-EC8E-41FA-854B-355021D2A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343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rPr>
              <a:t>CLASSINSIGHT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EA79E9-6AF2-4112-BEB2-755FF7BDB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81343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rPr>
              <a:t>06 / 12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519B03-5759-4F17-9469-A477953AB4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0727ee63f94cac"/>
          <a:stretch xmlns:a="http://schemas.openxmlformats.org/drawingml/2006/main"/>
        </p:blipFill>
        <p:spPr>
          <a:xfrm xmlns:a="http://schemas.openxmlformats.org/drawingml/2006/main">
            <a:off x="1104900" y="2381250"/>
            <a:ext cx="8839200" cy="5524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146A52-D529-47C4-8053-EBC1920A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571750"/>
            <a:ext cx="361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rPr>
              <a:t>低分触发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139021-7D53-44ED-8594-F6513B87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143250"/>
            <a:ext cx="361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rPr>
              <a:t>1～2 分创建预警</a:t>
            </a:r>
          </a:p>
          <a:p xmlns:a="http://schemas.openxmlformats.org/drawingml/2006/main">
            <a:pPr>
              <a:defRPr sz="187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rPr>
              <a:t>连续低分合并待办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499E09-461F-4200-9539-7578226AD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429125"/>
            <a:ext cx="361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rPr>
              <a:t>教师处理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89B613-3605-4B0D-8CD1-AD1CB92DF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000625"/>
            <a:ext cx="361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rPr>
              <a:t>填写 1～500 字意见</a:t>
            </a:r>
          </a:p>
          <a:p xmlns:a="http://schemas.openxmlformats.org/drawingml/2006/main">
            <a:pPr>
              <a:defRPr sz="187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rPr>
              <a:t>保存处理人和时间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3F40F3-FBE6-4A75-B9B7-F5D0DEF3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86500"/>
            <a:ext cx="361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rPr>
              <a:t>学生回看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245A56-4366-4916-860C-B3CB68A4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858000"/>
            <a:ext cx="361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rPr>
              <a:t>查看处理结果</a:t>
            </a:r>
          </a:p>
          <a:p xmlns:a="http://schemas.openxmlformats.org/drawingml/2006/main">
            <a:pPr>
              <a:defRPr sz="187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rPr>
              <a:t>高分不自动关闭预警</a:t>
            </a:r>
          </a:p>
        </p:txBody>
      </p:sp>
    </p:spTree>
    <p:extLst>
      <p:ext uri="{BB962C8B-B14F-4D97-AF65-F5344CB8AC3E}">
        <p14:creationId xmlns:p14="http://schemas.microsoft.com/office/powerpoint/2010/main" val="12994782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5B664D-EDA6-4D5D-9E32-00173D892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238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rPr>
              <a:t>课堂交流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203FA4-9497-4BDD-9D20-29F09D7D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04875"/>
            <a:ext cx="1362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02F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02F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F3D"/>
                </a:solidFill>
                <a:latin typeface="Microsoft YaHei"/>
                <a:ea typeface="Microsoft YaHei"/>
                <a:cs typeface="Microsoft YaHei"/>
              </a:rPr>
              <a:t>文字和图片补充反馈背后的问题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6F04B8-767B-431C-9E65-F3607BE45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362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rPr>
              <a:t>师生在当前课堂内交流，消息每 3 秒增量更新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D4D036-DC45-423B-A9ED-5574FACC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343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rPr>
              <a:t>CLASSINSIGHT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D5702D-49FF-4256-8524-A2361C37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81343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rPr>
              <a:t>07 / 12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F9ED59-7798-4FCE-BE37-03CD71DDB8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60daeff9c24d67"/>
          <a:stretch xmlns:a="http://schemas.openxmlformats.org/drawingml/2006/main"/>
        </p:blipFill>
        <p:spPr>
          <a:xfrm xmlns:a="http://schemas.openxmlformats.org/drawingml/2006/main">
            <a:off x="1028700" y="2333625"/>
            <a:ext cx="8991600" cy="5619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7D99D8-E377-449E-B3B8-1DEF0AB16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714625"/>
            <a:ext cx="361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rPr>
              <a:t>表达具体困难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AE6E87-12BD-4F3D-9384-C3C305F1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86125"/>
            <a:ext cx="361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rPr>
              <a:t>文字说明与图片上传</a:t>
            </a:r>
          </a:p>
          <a:p xmlns:a="http://schemas.openxmlformats.org/drawingml/2006/main">
            <a:pPr>
              <a:defRPr sz="187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rPr>
              <a:t>补充“哪里没听懂”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CAF662-1427-42F4-925D-6A6D1250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667250"/>
            <a:ext cx="361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rPr>
              <a:t>减少误操作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FA89BB-65BB-47B3-8232-049AC97F9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238750"/>
            <a:ext cx="361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rPr>
              <a:t>空消息校验</a:t>
            </a:r>
          </a:p>
          <a:p xmlns:a="http://schemas.openxmlformats.org/drawingml/2006/main">
            <a:pPr>
              <a:defRPr sz="187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rPr>
              <a:t>图片格式与 5 MB 限制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D463D8-21CB-48F5-B64E-AB038B9F2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858000"/>
            <a:ext cx="3619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rPr>
              <a:t>按班级和课程隔离消息</a:t>
            </a:r>
          </a:p>
        </p:txBody>
      </p:sp>
    </p:spTree>
    <p:extLst>
      <p:ext uri="{BB962C8B-B14F-4D97-AF65-F5344CB8AC3E}">
        <p14:creationId xmlns:p14="http://schemas.microsoft.com/office/powerpoint/2010/main" val="995557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88126E-776F-4F7B-A959-14AB1D4BD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238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rPr>
              <a:t>课后复盘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C09C2F-2D40-46CD-97AB-C96AA5208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04875"/>
            <a:ext cx="1362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02F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02F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F3D"/>
                </a:solidFill>
                <a:latin typeface="Microsoft YaHei"/>
                <a:ea typeface="Microsoft YaHei"/>
                <a:cs typeface="Microsoft YaHei"/>
              </a:rPr>
              <a:t>完整周期快照支持历史查询与导出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066FCC-0546-4F1F-9DB3-B0A484DF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362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rPr>
              <a:t>统计周期可设为 5～10 分钟，只保存已经结束的周期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08DC89-258B-4D70-A737-FC91572C5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343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rPr>
              <a:t>CLASSINSIGHT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44C7CE-ED5D-4C0C-873C-9379E487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81343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rPr>
              <a:t>08 / 12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A8557C-FC64-48A7-8149-C70729D66B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e56c6ca3c74511"/>
          <a:stretch xmlns:a="http://schemas.openxmlformats.org/drawingml/2006/main"/>
        </p:blipFill>
        <p:spPr>
          <a:xfrm xmlns:a="http://schemas.openxmlformats.org/drawingml/2006/main">
            <a:off x="1028700" y="2333625"/>
            <a:ext cx="8991600" cy="5619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A986B8-7866-4A66-9FF0-7E3B7F68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19375"/>
            <a:ext cx="361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rPr>
              <a:t>查询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E68DEE-59E0-4DA3-95AC-F424BED07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190875"/>
            <a:ext cx="361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rPr>
              <a:t>课程名称与上课时间</a:t>
            </a:r>
          </a:p>
          <a:p xmlns:a="http://schemas.openxmlformats.org/drawingml/2006/main">
            <a:pPr>
              <a:defRPr sz="187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rPr>
              <a:t>支持组合筛选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71C36D-0B2A-4112-9C1F-8827DBBD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429125"/>
            <a:ext cx="361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rPr>
              <a:t>导出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146D9B-6948-462C-BB77-D832BB1E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000625"/>
            <a:ext cx="361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rPr>
              <a:t>Excel 与查询条件一致</a:t>
            </a:r>
          </a:p>
          <a:p xmlns:a="http://schemas.openxmlformats.org/drawingml/2006/main">
            <a:pPr>
              <a:defRPr sz="187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rPr>
              <a:t>保留人数和六档分布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F2845E-262C-4231-917D-45AE0C0A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38875"/>
            <a:ext cx="361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rPr>
              <a:t>口径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7255AF-EC40-4457-8732-7755DDE8B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810375"/>
            <a:ext cx="361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rPr>
              <a:t>只取截止前的最新反馈</a:t>
            </a:r>
          </a:p>
          <a:p xmlns:a="http://schemas.openxmlformats.org/drawingml/2006/main">
            <a:pPr>
              <a:defRPr sz="187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rPr>
              <a:t>同一周期不重复保存</a:t>
            </a:r>
          </a:p>
        </p:txBody>
      </p:sp>
    </p:spTree>
    <p:extLst>
      <p:ext uri="{BB962C8B-B14F-4D97-AF65-F5344CB8AC3E}">
        <p14:creationId xmlns:p14="http://schemas.microsoft.com/office/powerpoint/2010/main" val="4994523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809B2B-AE32-4A77-8BC4-7C5E99F0F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238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rPr>
              <a:t>运行管理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DF41D2-2DD9-4433-81EE-7D6D2A27F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04875"/>
            <a:ext cx="1362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02F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02F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F3D"/>
                </a:solidFill>
                <a:latin typeface="Microsoft YaHei"/>
                <a:ea typeface="Microsoft YaHei"/>
                <a:cs typeface="Microsoft YaHei"/>
              </a:rPr>
              <a:t>管理员维护账号、课程与课堂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D58B8C-922B-4D84-AA8E-F169FC64A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362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rPr>
              <a:t>课堂状态、账号状态与统计周期都有明确约束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CFC718-B2BD-42F3-AC16-0CE895CEC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343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rPr>
              <a:t>CLASSINSIGHT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D51BE4-1F2D-4A8D-A27C-1B58C12A3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81343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rPr>
              <a:t>09 / 12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8521E3-40AD-434A-9732-A7AF3CD7DE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9b81da4b8c4d69"/>
          <a:stretch xmlns:a="http://schemas.openxmlformats.org/drawingml/2006/main"/>
        </p:blipFill>
        <p:spPr>
          <a:xfrm xmlns:a="http://schemas.openxmlformats.org/drawingml/2006/main">
            <a:off x="762000" y="2478881"/>
            <a:ext cx="9525000" cy="535781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AD8BDD-6013-435E-8E7E-8A50473B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19375"/>
            <a:ext cx="361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rPr>
              <a:t>账号管理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1F9844-DE9A-474C-9B55-B326D92C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190875"/>
            <a:ext cx="361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rPr>
              <a:t>查询、修改、启停</a:t>
            </a:r>
          </a:p>
          <a:p xmlns:a="http://schemas.openxmlformats.org/drawingml/2006/main">
            <a:pPr>
              <a:defRPr sz="187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rPr>
              <a:t>保护有关联数据的账号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46E580-E9B5-4C0E-9F18-775A60C13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429125"/>
            <a:ext cx="361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rPr>
              <a:t>课堂管理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51A396-8D81-413E-B67B-776F21C6F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000625"/>
            <a:ext cx="361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rPr>
              <a:t>创建、开始和结束课堂</a:t>
            </a:r>
          </a:p>
          <a:p xmlns:a="http://schemas.openxmlformats.org/drawingml/2006/main">
            <a:pPr>
              <a:defRPr sz="187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rPr>
              <a:t>检查教师与班级冲突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2EFC06-3910-4E07-A35D-B61D9D3A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38875"/>
            <a:ext cx="361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rPr>
              <a:t>周期配置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2B7AD7-0114-48C3-B1C4-DC285A7A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810375"/>
            <a:ext cx="361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rPr>
              <a:t>允许 5～10 分钟</a:t>
            </a:r>
          </a:p>
          <a:p xmlns:a="http://schemas.openxmlformats.org/drawingml/2006/main">
            <a:pPr>
              <a:defRPr sz="187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rPr>
              <a:t>越界配置直接拒绝</a:t>
            </a:r>
          </a:p>
        </p:txBody>
      </p:sp>
    </p:spTree>
    <p:extLst>
      <p:ext uri="{BB962C8B-B14F-4D97-AF65-F5344CB8AC3E}">
        <p14:creationId xmlns:p14="http://schemas.microsoft.com/office/powerpoint/2010/main" val="140096219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2F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328DDF-5823-4900-82C0-F14D27724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238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74E3C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74E3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4E3CC"/>
                </a:solidFill>
                <a:latin typeface="Microsoft YaHei"/>
                <a:ea typeface="Microsoft YaHei"/>
                <a:cs typeface="Microsoft YaHei"/>
              </a:rPr>
              <a:t>技术实现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C6EBB8-2105-4EED-9CF2-029DA7182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04875"/>
            <a:ext cx="1362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业务分层与数据一致性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F2B0F9-2CAC-467B-BDF0-5CA08383D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362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B6D0D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B6D0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6D0D6"/>
                </a:solidFill>
                <a:latin typeface="Microsoft YaHei"/>
                <a:ea typeface="Microsoft YaHei"/>
                <a:cs typeface="Microsoft YaHei"/>
              </a:rPr>
              <a:t>轻量技术栈适合本地课程演示，也便于复验和维护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77D4D8-2721-48EA-A3E7-A9C288F6E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343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B6D0D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B6D0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6D0D6"/>
                </a:solidFill>
                <a:latin typeface="Microsoft YaHei"/>
                <a:ea typeface="Microsoft YaHei"/>
                <a:cs typeface="Microsoft YaHei"/>
              </a:rPr>
              <a:t>CLASSINSIGHT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CABC31-3C58-4497-876B-B0989A14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81343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B6D0D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B6D0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6D0D6"/>
                </a:solidFill>
                <a:latin typeface="Microsoft YaHei"/>
                <a:ea typeface="Microsoft YaHei"/>
                <a:cs typeface="Microsoft YaHei"/>
              </a:rPr>
              <a:t>10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43221B-78E1-48A0-9408-F3EED91BC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74E3C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74E3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74E3CC"/>
                </a:solidFill>
                <a:latin typeface="Microsoft YaHei"/>
                <a:ea typeface="Microsoft YaHei"/>
                <a:cs typeface="Microsoft YaHei"/>
              </a:rPr>
              <a:t>界面层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21AF5C-57E5-4C94-9609-716EF9C5B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622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HTML / CSS / 原生 JavaScript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B39E27-DF8A-47C1-8896-85BC6E41A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9565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B6D0D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B6D0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6D0D6"/>
                </a:solidFill>
                <a:latin typeface="Microsoft YaHei"/>
                <a:ea typeface="Microsoft YaHei"/>
                <a:cs typeface="Microsoft YaHei"/>
              </a:rPr>
              <a:t>ECharts 图表，桌面与手机响应式布局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16A751-0888-488B-A629-372BC9729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74E3C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74E3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74E3CC"/>
                </a:solidFill>
                <a:latin typeface="Microsoft YaHei"/>
                <a:ea typeface="Microsoft YaHei"/>
                <a:cs typeface="Microsoft YaHei"/>
              </a:rPr>
              <a:t>服务层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431E23-AD42-44E9-AF11-40343F8E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005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FastAPI / Pydantic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FA3983-A40F-4F55-9BEC-D24DF383B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3390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B6D0D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B6D0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6D0D6"/>
                </a:solidFill>
                <a:latin typeface="Microsoft YaHei"/>
                <a:ea typeface="Microsoft YaHei"/>
                <a:cs typeface="Microsoft YaHei"/>
              </a:rPr>
              <a:t>请求校验、登录检查与角色范围控制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11BB12-8BDD-43C8-9F87-FDA419C4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74E3C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74E3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74E3CC"/>
                </a:solidFill>
                <a:latin typeface="Microsoft YaHei"/>
                <a:ea typeface="Microsoft YaHei"/>
                <a:cs typeface="Microsoft YaHei"/>
              </a:rPr>
              <a:t>业务层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2175E9-4A2C-4782-8A2A-ED962DE1C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387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反馈、统计、预警、历史与讨论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D2852C-7E0B-4C20-8E40-8F4000C58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77215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B6D0D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B6D0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6D0D6"/>
                </a:solidFill>
                <a:latin typeface="Microsoft YaHei"/>
                <a:ea typeface="Microsoft YaHei"/>
                <a:cs typeface="Microsoft YaHei"/>
              </a:rPr>
              <a:t>反馈与预警同事务，周期任务保持幂等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464E7B-9134-41E7-8106-C38F244D3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74E3C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74E3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74E3CC"/>
                </a:solidFill>
                <a:latin typeface="Microsoft YaHei"/>
                <a:ea typeface="Microsoft YaHei"/>
                <a:cs typeface="Microsoft YaHei"/>
              </a:rPr>
              <a:t>存储与导出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2063F0-C59A-4BFA-9176-9BCC4F62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4770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SQLite / SQLAlchemy / openpyxl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C8BAE5-757B-4E91-B752-7B49632A8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701040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B6D0D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B6D0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6D0D6"/>
                </a:solidFill>
                <a:latin typeface="Microsoft YaHei"/>
                <a:ea typeface="Microsoft YaHei"/>
                <a:cs typeface="Microsoft YaHei"/>
              </a:rPr>
              <a:t>10 张业务表，外键约束，Excel 报表</a:t>
            </a:r>
          </a:p>
        </p:txBody>
      </p:sp>
    </p:spTree>
    <p:extLst>
      <p:ext uri="{BB962C8B-B14F-4D97-AF65-F5344CB8AC3E}">
        <p14:creationId xmlns:p14="http://schemas.microsoft.com/office/powerpoint/2010/main" val="17029891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8613E7-0C8D-4CF8-8EEF-FD96AB938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238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rPr>
              <a:t>验收证据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518BFB-BDF5-40F1-8EF3-7E9A0CB7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04875"/>
            <a:ext cx="1362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02F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02F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F3D"/>
                </a:solidFill>
                <a:latin typeface="Microsoft YaHei"/>
                <a:ea typeface="Microsoft YaHei"/>
                <a:cs typeface="Microsoft YaHei"/>
              </a:rPr>
              <a:t>功能验证与本机性能记录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39F0F8-6D62-4207-A4A2-88F297EC4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362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rPr>
              <a:t>以下为项目已有验收记录，覆盖权限、预警流程与服务连通性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A03503-19DC-46C7-8527-D08CFAEB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343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rPr>
              <a:t>CLASSINSIGHT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E4E9CE-B763-434F-84BF-C45E8594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81343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rPr>
              <a:t>11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2DF45F-8DCA-4B7C-87AF-F23DED05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950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4950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rPr>
              <a:t>88 / 88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223448-FDB9-4BD9-AEAA-93C69F58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102F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02F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02F3D"/>
                </a:solidFill>
                <a:latin typeface="Microsoft YaHei"/>
                <a:ea typeface="Microsoft YaHei"/>
                <a:cs typeface="Microsoft YaHei"/>
              </a:rPr>
              <a:t>权限矩阵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D2DEA7-C028-4568-8A90-A19637409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rPr>
              <a:t>角色交叉访问与数据范围</a:t>
            </a:r>
          </a:p>
          <a:p xmlns:a="http://schemas.openxmlformats.org/drawingml/2006/main">
            <a:pPr>
              <a:defRPr sz="187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rPr>
              <a:t>2026-09-11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944E61-10B8-432E-815A-08A0EAE0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62250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950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4950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rPr>
              <a:t>19 / 19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F3D4EE-DA82-4D34-90D1-61DA78BF8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000500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102F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02F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02F3D"/>
                </a:solidFill>
                <a:latin typeface="Microsoft YaHei"/>
                <a:ea typeface="Microsoft YaHei"/>
                <a:cs typeface="Microsoft YaHei"/>
              </a:rPr>
              <a:t>预警流程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C370EC-CC78-42FD-8B67-880D4FF06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619625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rPr>
              <a:t>触发、合并、处理与越权</a:t>
            </a:r>
          </a:p>
          <a:p xmlns:a="http://schemas.openxmlformats.org/drawingml/2006/main">
            <a:pPr>
              <a:defRPr sz="187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rPr>
              <a:t>项目模块验收记录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28A434-E6B4-41C6-85C4-4FE8FE72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762250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950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4950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rPr>
              <a:t>42 / 42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482912-B33D-4E27-9416-5965F7E7F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000500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102F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02F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02F3D"/>
                </a:solidFill>
                <a:latin typeface="Microsoft YaHei"/>
                <a:ea typeface="Microsoft YaHei"/>
                <a:cs typeface="Microsoft YaHei"/>
              </a:rPr>
              <a:t>HTTP 冒烟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FEA261-57CB-4759-889A-9A21ACBE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619625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rPr>
              <a:t>登录、页面、接口与资源</a:t>
            </a:r>
          </a:p>
          <a:p xmlns:a="http://schemas.openxmlformats.org/drawingml/2006/main">
            <a:pPr>
              <a:defRPr sz="187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rPr>
              <a:t>2026-09-23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C0DC1A-2664-49DC-B565-41B3008E8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29375"/>
            <a:ext cx="400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050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007E85"/>
                </a:solidFill>
                <a:latin typeface="Microsoft YaHei"/>
                <a:ea typeface="Microsoft YaHei"/>
                <a:cs typeface="Microsoft YaHei"/>
              </a:rPr>
              <a:t>200 / 200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979718-3099-43E2-8F7C-A7A9628AA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651510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02F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02F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2F3D"/>
                </a:solidFill>
                <a:latin typeface="Microsoft YaHei"/>
                <a:ea typeface="Microsoft YaHei"/>
                <a:cs typeface="Microsoft YaHei"/>
              </a:rPr>
              <a:t>独立会话并发读取成功，单次最大响应 0.6841 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B82C8E-7803-445B-A8F8-C949E7EF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7172325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7079"/>
                </a:solidFill>
                <a:latin typeface="Microsoft YaHei"/>
                <a:ea typeface="Microsoft YaHei"/>
                <a:cs typeface="Microsoft YaHei"/>
              </a:rPr>
              <a:t>2026-09-12 本机短时测试，不代表公网长期容量或 200 人同时写入能力</a:t>
            </a:r>
          </a:p>
        </p:txBody>
      </p:sp>
    </p:spTree>
    <p:extLst>
      <p:ext uri="{BB962C8B-B14F-4D97-AF65-F5344CB8AC3E}">
        <p14:creationId xmlns:p14="http://schemas.microsoft.com/office/powerpoint/2010/main" val="127481932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02F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A967E4-32B4-457B-8A4A-52988BB90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238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74E3C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74E3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4E3CC"/>
                </a:solidFill>
                <a:latin typeface="Microsoft YaHei"/>
                <a:ea typeface="Microsoft YaHei"/>
                <a:cs typeface="Microsoft YaHei"/>
              </a:rPr>
              <a:t>总结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E20CBB-BFBA-48AC-ACD6-29817A1D1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04875"/>
            <a:ext cx="1362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项目已形成可追踪的教学反馈流程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3CA9DB-5953-4569-9F50-0496F0E6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362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B6D0D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B6D0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6D0D6"/>
                </a:solidFill>
                <a:latin typeface="Microsoft YaHei"/>
                <a:ea typeface="Microsoft YaHei"/>
                <a:cs typeface="Microsoft YaHei"/>
              </a:rPr>
              <a:t>学生反馈后，教师可以查看整体状态，并完成个人跟进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4180DE-9D7E-449E-B4C2-5A9429545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343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B6D0D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B6D0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6D0D6"/>
                </a:solidFill>
                <a:latin typeface="Microsoft YaHei"/>
                <a:ea typeface="Microsoft YaHei"/>
                <a:cs typeface="Microsoft YaHei"/>
              </a:rPr>
              <a:t>CLASSINSIGHT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C986FC-ED11-415A-B26C-C5B9CA34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81343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B6D0D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B6D0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6D0D6"/>
                </a:solidFill>
                <a:latin typeface="Microsoft YaHei"/>
                <a:ea typeface="Microsoft YaHei"/>
                <a:cs typeface="Microsoft YaHei"/>
              </a:rPr>
              <a:t>12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CB6246-D38C-48A8-A5FB-60E9A3CD2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350" b="1">
                <a:solidFill>
                  <a:srgbClr val="74E3C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74E3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74E3CC"/>
                </a:solidFill>
                <a:latin typeface="Microsoft YaHei"/>
                <a:ea typeface="Microsoft YaHei"/>
                <a:cs typeface="Microsoft YaHei"/>
              </a:rPr>
              <a:t>反馈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023405-4606-42BC-8821-6D168BFE4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905125"/>
            <a:ext cx="323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发现困难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A51032-29F1-4DCF-A4D7-2087FCF8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05125"/>
            <a:ext cx="323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教师跟进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2F8500-E657-4984-AD5A-721E2076D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2905125"/>
            <a:ext cx="323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结果回看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A77F2B-994C-4C76-A0F7-3F7FA4C42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B6D0D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B6D0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B6D0D6"/>
                </a:solidFill>
                <a:latin typeface="Microsoft YaHei"/>
                <a:ea typeface="Microsoft YaHei"/>
                <a:cs typeface="Microsoft YaHei"/>
              </a:rPr>
              <a:t>学生提交 2 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9E429E-C43F-4073-AD59-18FABF51B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000500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B6D0D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B6D0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B6D0D6"/>
                </a:solidFill>
                <a:latin typeface="Microsoft YaHei"/>
                <a:ea typeface="Microsoft YaHei"/>
                <a:cs typeface="Microsoft YaHei"/>
              </a:rPr>
              <a:t>看板出现预警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D307AF-7B86-49F8-A40A-7479B099F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00500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B6D0D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B6D0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B6D0D6"/>
                </a:solidFill>
                <a:latin typeface="Microsoft YaHei"/>
                <a:ea typeface="Microsoft YaHei"/>
                <a:cs typeface="Microsoft YaHei"/>
              </a:rPr>
              <a:t>填写处理意见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48A0B6-97DA-4CE2-B1BF-B322249FC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400050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B6D0D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B6D0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B6D0D6"/>
                </a:solidFill>
                <a:latin typeface="Microsoft YaHei"/>
                <a:ea typeface="Microsoft YaHei"/>
                <a:cs typeface="Microsoft YaHei"/>
              </a:rPr>
              <a:t>学生查看回复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6FA2A7-E880-4454-A00F-392E0C7E7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74E3C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74E3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74E3CC"/>
                </a:solidFill>
                <a:latin typeface="Microsoft YaHei"/>
                <a:ea typeface="Microsoft YaHei"/>
                <a:cs typeface="Microsoft YaHei"/>
              </a:rPr>
              <a:t>当前边界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12D3F7-799E-444C-ABE5-3759E262A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886450"/>
            <a:ext cx="1009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B6D0D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B6D0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B6D0D6"/>
                </a:solidFill>
                <a:latin typeface="Microsoft YaHei"/>
                <a:ea typeface="Microsoft YaHei"/>
                <a:cs typeface="Microsoft YaHei"/>
              </a:rPr>
              <a:t>短信、微信和 QQ 采用本地演示认证</a:t>
            </a:r>
          </a:p>
          <a:p xmlns:a="http://schemas.openxmlformats.org/drawingml/2006/main">
            <a:pPr>
              <a:defRPr sz="2100" b="0">
                <a:solidFill>
                  <a:srgbClr val="B6D0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B6D0D6"/>
                </a:solidFill>
                <a:latin typeface="Microsoft YaHei"/>
                <a:ea typeface="Microsoft YaHei"/>
                <a:cs typeface="Microsoft YaHei"/>
              </a:rPr>
              <a:t>生产部署与真实第三方接入属于后续工作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CD3AF4-517C-4FE1-8944-B3A3D7244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53300"/>
            <a:ext cx="1238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谢谢，欢迎提问</a:t>
            </a:r>
          </a:p>
        </p:txBody>
      </p:sp>
    </p:spTree>
    <p:extLst>
      <p:ext uri="{BB962C8B-B14F-4D97-AF65-F5344CB8AC3E}">
        <p14:creationId xmlns:p14="http://schemas.microsoft.com/office/powerpoint/2010/main" val="19721036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2026-10-14T12:05:14.2840000Z</dcterms:created>
  <dcterms:modified xsi:type="dcterms:W3CDTF">2026-10-14T12:05:14.2840000Z</dcterms:modified>
</coreProperties>
</file>